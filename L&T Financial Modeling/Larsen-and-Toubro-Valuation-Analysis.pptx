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unnel Display"/>
      <p:regular r:id="rId17"/>
    </p:embeddedFont>
    <p:embeddedFont>
      <p:font typeface="Funnel Display Bold"/>
      <p:regular r:id="rId18"/>
    </p:embeddedFont>
    <p:embeddedFont>
      <p:font typeface="Funnel Sans"/>
      <p:regular r:id="rId19"/>
    </p:embeddedFont>
    <p:embeddedFont>
      <p:font typeface="Funnel Sans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1370261"/>
            <a:ext cx="1945630" cy="281136"/>
          </a:xfrm>
          <a:prstGeom prst="roundRect">
            <a:avLst>
              <a:gd name="adj" fmla="val 17881"/>
            </a:avLst>
          </a:prstGeom>
          <a:solidFill>
            <a:srgbClr val="D8E7F3"/>
          </a:solidFill>
          <a:ln/>
        </p:spPr>
      </p:sp>
      <p:sp>
        <p:nvSpPr>
          <p:cNvPr id="4" name="Text 1"/>
          <p:cNvSpPr/>
          <p:nvPr/>
        </p:nvSpPr>
        <p:spPr>
          <a:xfrm>
            <a:off x="4042321" y="1415132"/>
            <a:ext cx="222334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INTEGRATED FINANCIAL MODEL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952577" y="1711226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Larsen &amp; Toubro: Valuation Analysis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52577" y="2815605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3-statement + DCF valuation model with actuals through FY26 and forecasts through FY31, in INR crore. L&amp;T is positioned as a strong growth and margin recovery story, with revenue projected to grow at ~9.0% CAGR and EBITDA margins recovering from 8.3% to 14.1%.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095" y="432495"/>
            <a:ext cx="1467445" cy="273174"/>
          </a:xfrm>
          <a:prstGeom prst="roundRect">
            <a:avLst>
              <a:gd name="adj" fmla="val 17540"/>
            </a:avLst>
          </a:prstGeom>
          <a:noFill/>
          <a:ln w="4763">
            <a:solidFill>
              <a:srgbClr val="3371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9359" y="479971"/>
            <a:ext cx="1744117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HEADLINE 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9095" y="759991"/>
            <a:ext cx="6284119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 Compelling Margin Recovery Story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9095" y="1383209"/>
            <a:ext cx="8145810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FY26 is the trough. From FY27 onward, the model projects a sustained rebound — making margin normalization the primary value driver. Revenue and profitability expand meaningfully through FY31E.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9095" y="2052786"/>
            <a:ext cx="2601962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₹153K Cr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961281" y="2696542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FY26A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9095" y="2987650"/>
            <a:ext cx="2601962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Base year (trough)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70945" y="2052786"/>
            <a:ext cx="2602037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₹236K Cr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3733130" y="2696542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FY31E Revenue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70945" y="2987650"/>
            <a:ext cx="2602037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~9.0% CAGR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42868" y="2052786"/>
            <a:ext cx="2602037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8.3%</a:t>
            </a:r>
            <a:endParaRPr lang="en-US" sz="3700" dirty="0"/>
          </a:p>
        </p:txBody>
      </p:sp>
      <p:sp>
        <p:nvSpPr>
          <p:cNvPr id="13" name="Text 11"/>
          <p:cNvSpPr/>
          <p:nvPr/>
        </p:nvSpPr>
        <p:spPr>
          <a:xfrm>
            <a:off x="6470972" y="2696542"/>
            <a:ext cx="1745828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FY26A EBITDA Margin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42868" y="2987650"/>
            <a:ext cx="2602037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Compressed baseline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84983" y="3553420"/>
            <a:ext cx="2602037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14.1%</a:t>
            </a:r>
            <a:endParaRPr lang="en-US" sz="3700" dirty="0"/>
          </a:p>
        </p:txBody>
      </p:sp>
      <p:sp>
        <p:nvSpPr>
          <p:cNvPr id="16" name="Text 14"/>
          <p:cNvSpPr/>
          <p:nvPr/>
        </p:nvSpPr>
        <p:spPr>
          <a:xfrm>
            <a:off x="2321347" y="4197176"/>
            <a:ext cx="1729308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FY31E EBITDA Margin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84983" y="4488284"/>
            <a:ext cx="2602037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Normalized 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56906" y="3553420"/>
            <a:ext cx="2602037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₹25K Cr</a:t>
            </a:r>
            <a:endParaRPr lang="en-US" sz="3700" dirty="0"/>
          </a:p>
        </p:txBody>
      </p:sp>
      <p:sp>
        <p:nvSpPr>
          <p:cNvPr id="19" name="Text 17"/>
          <p:cNvSpPr/>
          <p:nvPr/>
        </p:nvSpPr>
        <p:spPr>
          <a:xfrm>
            <a:off x="5119092" y="4197176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FY31E Net Profit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56906" y="4488284"/>
            <a:ext cx="2602037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Up from ₹6K Cr in FY26A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5392" y="414114"/>
            <a:ext cx="1643658" cy="284783"/>
          </a:xfrm>
          <a:prstGeom prst="roundRect">
            <a:avLst>
              <a:gd name="adj" fmla="val 17376"/>
            </a:avLst>
          </a:prstGeom>
          <a:noFill/>
          <a:ln w="4763">
            <a:solidFill>
              <a:srgbClr val="3371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484" y="463004"/>
            <a:ext cx="1914674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 &amp; PROFITABILITY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5392" y="756865"/>
            <a:ext cx="6985918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Revenue Growth and EBITDA Expansion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392" y="1570509"/>
            <a:ext cx="3876973" cy="27906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6398" y="1552426"/>
            <a:ext cx="21897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Growth Trajectory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56398" y="1913930"/>
            <a:ext cx="3876973" cy="1402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 compounds at ~9.0% CAGR, while EBITDA grows significantly faster — from ₹12,802 Cr to ₹33,275 Cr — driven by operating leverage and margin recovery. The divergence between revenue and EBITDA growth underscores the efficiency gains embedded in the forecast.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6398" y="3479378"/>
            <a:ext cx="3876973" cy="1086966"/>
          </a:xfrm>
          <a:prstGeom prst="roundRect">
            <a:avLst>
              <a:gd name="adj" fmla="val 5691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663" y="3705969"/>
            <a:ext cx="184026" cy="1472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4955" y="3661097"/>
            <a:ext cx="3251150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EBITDA margin expands from 8.3% to 14.1% — a 580 bps improvement over five years, reflecting the core investment thesis.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281" y="446410"/>
            <a:ext cx="1576611" cy="278978"/>
          </a:xfrm>
          <a:prstGeom prst="roundRect">
            <a:avLst>
              <a:gd name="adj" fmla="val 17456"/>
            </a:avLst>
          </a:prstGeom>
          <a:noFill/>
          <a:ln w="4763">
            <a:solidFill>
              <a:srgbClr val="3371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8959" y="494630"/>
            <a:ext cx="1850454" cy="18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PROFITABILITY RECOVERY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281" y="781496"/>
            <a:ext cx="7300392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EBITDA Margin: The Core Investment Case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281" y="1576239"/>
            <a:ext cx="3887912" cy="27984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3570" y="1558677"/>
            <a:ext cx="273434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Margin Normalization Driver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3570" y="1912069"/>
            <a:ext cx="3887912" cy="1369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FY26's 8.3% EBITDA margin reflects unusually high operating expenses — treated as a one-off trough. The model assumes a steady recovery path, with net profit margin expanding above 10% by FY31E. This trajectory is consistent with L&amp;T's historical margin profile and improved project execution efficiency.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53570" y="3408238"/>
            <a:ext cx="3887912" cy="123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580 bps EBITDA margin expansion over the forecast period</a:t>
            </a:r>
            <a:endParaRPr lang="en-US" sz="1100" dirty="0"/>
          </a:p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Net profit margin crosses 10% threshold by FY31E</a:t>
            </a:r>
            <a:endParaRPr lang="en-US" sz="1100" dirty="0"/>
          </a:p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Operating leverage is the primary catalyst for margin recovery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03538" y="417016"/>
            <a:ext cx="1004739" cy="256208"/>
          </a:xfrm>
          <a:prstGeom prst="roundRect">
            <a:avLst>
              <a:gd name="adj" fmla="val 17781"/>
            </a:avLst>
          </a:prstGeom>
          <a:noFill/>
          <a:ln w="4763">
            <a:solidFill>
              <a:srgbClr val="3371A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89636" y="462409"/>
            <a:ext cx="1289745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BALANCE SHEET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03538" y="722337"/>
            <a:ext cx="4765923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Balance Sheet Strengthens Materially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3903538" y="1704008"/>
            <a:ext cx="476592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Shareholders' funds more than double over the forecast period, while cash builds significantly — reflecting strong retained earnings and disciplined capital allocation.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03538" y="2462361"/>
            <a:ext cx="2321496" cy="1173956"/>
          </a:xfrm>
          <a:prstGeom prst="roundRect">
            <a:avLst>
              <a:gd name="adj" fmla="val 4851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43883" y="2602706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Shareholders' Funds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43883" y="2875806"/>
            <a:ext cx="2040806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₹74,533 Cr → </a:t>
            </a:r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₹163,989 Cr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More than 2x growth by FY31E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47892" y="2462361"/>
            <a:ext cx="2321570" cy="1173956"/>
          </a:xfrm>
          <a:prstGeom prst="roundRect">
            <a:avLst>
              <a:gd name="adj" fmla="val 4851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8237" y="2602706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Cash Position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88237" y="2875806"/>
            <a:ext cx="2040880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₹7,544 Cr → </a:t>
            </a:r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₹31,946 Cr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4x increase, strengthening liquidity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03538" y="3759175"/>
            <a:ext cx="4765923" cy="967234"/>
          </a:xfrm>
          <a:prstGeom prst="roundRect">
            <a:avLst>
              <a:gd name="adj" fmla="val 5888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43883" y="3899520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Equity Build-Up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43883" y="4172620"/>
            <a:ext cx="4485233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Driven by retained earnings from improving profitability and reduced dividend payout pressure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0757" y="360685"/>
            <a:ext cx="1280740" cy="218033"/>
          </a:xfrm>
          <a:prstGeom prst="roundRect">
            <a:avLst>
              <a:gd name="adj" fmla="val 18373"/>
            </a:avLst>
          </a:prstGeom>
          <a:noFill/>
          <a:ln w="4763">
            <a:solidFill>
              <a:srgbClr val="3371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032" y="401166"/>
            <a:ext cx="158539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LEVERAGE &amp; CREDIT RISK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00757" y="616669"/>
            <a:ext cx="684252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Deleveraging: A Sharply Improving Credit Profile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757" y="1216670"/>
            <a:ext cx="3725763" cy="2681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2093" y="1204764"/>
            <a:ext cx="1871142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Leverage Metrics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22093" y="1475036"/>
            <a:ext cx="372576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L&amp;T's credit profile improves dramatically over the forecast horizon. The debt-to-equity ratio falls to near-negligible levels, while interest coverage strengthens to well above any comfort threshold — signaling substantially lower credit risk.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470" y="4112196"/>
            <a:ext cx="3837980" cy="6706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7119" y="4245694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Debt-to-Equity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77119" y="4478015"/>
            <a:ext cx="3513832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0.14x (FY26A) →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0.04x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(FY31E)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5114" y="4112196"/>
            <a:ext cx="3838054" cy="6706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95763" y="4245694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Interest Coverage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795763" y="4478015"/>
            <a:ext cx="3513906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6.5x (FY26A) →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28.2x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(FY31E)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538" y="374898"/>
            <a:ext cx="1272853" cy="256208"/>
          </a:xfrm>
          <a:prstGeom prst="roundRect">
            <a:avLst>
              <a:gd name="adj" fmla="val 17781"/>
            </a:avLst>
          </a:prstGeom>
          <a:noFill/>
          <a:ln w="4763">
            <a:solidFill>
              <a:srgbClr val="3371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0636" y="420291"/>
            <a:ext cx="1557858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CASH FLOW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4538" y="680219"/>
            <a:ext cx="8194923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Operating Cash Flow: Strong Recovery, FY27 Exception</a:t>
            </a:r>
            <a:endParaRPr lang="en-US" sz="2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538" y="1800076"/>
            <a:ext cx="3932113" cy="28303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2111" y="1784747"/>
            <a:ext cx="20522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FY27 Cash Dip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42111" y="2107034"/>
            <a:ext cx="393211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While operating cash flow recovers strongly to ₹22,516 Cr by FY31E, closing cash dips sharply to </a:t>
            </a:r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₹2,290 Cr in FY27</a:t>
            </a:r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driven by heavy reinvestment and working capital outflows.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42111" y="2865388"/>
            <a:ext cx="3932113" cy="955253"/>
          </a:xfrm>
          <a:prstGeom prst="roundRect">
            <a:avLst>
              <a:gd name="adj" fmla="val 5961"/>
            </a:avLst>
          </a:prstGeom>
          <a:solidFill>
            <a:srgbClr val="FCF2B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693" y="3068538"/>
            <a:ext cx="169441" cy="1355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2716" y="3022104"/>
            <a:ext cx="3355925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FY27 is a transitional year: high capital allocation and working capital build-up temporarily suppress the cash balance before the recovery takes hold.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08050" y="310455"/>
            <a:ext cx="721444" cy="177329"/>
          </a:xfrm>
          <a:prstGeom prst="roundRect">
            <a:avLst>
              <a:gd name="adj" fmla="val 19047"/>
            </a:avLst>
          </a:prstGeom>
          <a:noFill/>
          <a:ln w="4763">
            <a:solidFill>
              <a:srgbClr val="3371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3088" y="345356"/>
            <a:ext cx="1048569" cy="10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0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DCF VALUATION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308050" y="514796"/>
            <a:ext cx="648057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Valuation Output: Attractive but Terminal-Value Heavy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050" y="987623"/>
            <a:ext cx="3141315" cy="31413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99397" y="1903437"/>
            <a:ext cx="16397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Assumptions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699397" y="2118717"/>
            <a:ext cx="3141315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selected DCF case produces an enterprise value of ₹205,605 Cr and equity value of ₹223,600 Cr. The WACC of 12.3% reflects L&amp;T's cost of capital, while the 5.0% terminal growth rate assumes long-term convergence toward India's nominal GDP growth.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699397" y="2732261"/>
            <a:ext cx="3141315" cy="472306"/>
          </a:xfrm>
          <a:prstGeom prst="roundRect">
            <a:avLst>
              <a:gd name="adj" fmla="val 8939"/>
            </a:avLst>
          </a:prstGeom>
          <a:solidFill>
            <a:srgbClr val="C5DBE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856" y="2874615"/>
            <a:ext cx="125611" cy="1004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5926" y="2824832"/>
            <a:ext cx="2714327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~76% terminal value contribution warrants sensitivity analysis around growth and WACC assumptions.</a:t>
            </a:r>
            <a:endParaRPr lang="en-US" sz="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3763" y="4280892"/>
            <a:ext cx="2145209" cy="5521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5659" y="4395639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WACC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465659" y="4583906"/>
            <a:ext cx="1858566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12.3%</a:t>
            </a:r>
            <a:endParaRPr lang="en-US" sz="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92178" y="4280892"/>
            <a:ext cx="2145283" cy="5521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64074" y="4395639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Terminal Growth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3664074" y="4583906"/>
            <a:ext cx="1858640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5.0%</a:t>
            </a:r>
            <a:endParaRPr lang="en-US" sz="7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90667" y="4280892"/>
            <a:ext cx="2145209" cy="5521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862563" y="4395639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Terminal Value Share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5862563" y="4583906"/>
            <a:ext cx="1858566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~76% of EV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353" y="403175"/>
            <a:ext cx="1203052" cy="250701"/>
          </a:xfrm>
          <a:prstGeom prst="roundRect">
            <a:avLst>
              <a:gd name="adj" fmla="val 17859"/>
            </a:avLst>
          </a:prstGeom>
          <a:noFill/>
          <a:ln w="4763">
            <a:solidFill>
              <a:srgbClr val="3371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1036" y="447898"/>
            <a:ext cx="1490886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0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INVESTMENT THESIS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6353" y="701278"/>
            <a:ext cx="4575646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Six Key Financial Takeaways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66353" y="1271141"/>
            <a:ext cx="266477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53" y="1483296"/>
            <a:ext cx="4046339" cy="14288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7" name="Text 5"/>
          <p:cNvSpPr/>
          <p:nvPr/>
        </p:nvSpPr>
        <p:spPr>
          <a:xfrm>
            <a:off x="466353" y="1578471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FY26 is the Trough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53" y="1845543"/>
            <a:ext cx="4046339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Sharp margin compression from high opex; rebound assumed from FY27 onward.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31308" y="1271141"/>
            <a:ext cx="266477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31308" y="1483296"/>
            <a:ext cx="4046339" cy="14288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1" name="Text 9"/>
          <p:cNvSpPr/>
          <p:nvPr/>
        </p:nvSpPr>
        <p:spPr>
          <a:xfrm>
            <a:off x="4631308" y="1578471"/>
            <a:ext cx="211678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Profitability Recovery is 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31308" y="1845543"/>
            <a:ext cx="4046339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EBITDA margin expands 580 bps; net profit margin crosses 10% by FY31E.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53" y="2467049"/>
            <a:ext cx="266477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53" y="2679204"/>
            <a:ext cx="4046339" cy="14288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53" y="2774379"/>
            <a:ext cx="201617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Balance Sheet Strengthens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53" y="3041452"/>
            <a:ext cx="4046339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Shareholders' funds more than double; cash grows 4x through FY31E.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31308" y="2467049"/>
            <a:ext cx="266477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1308" y="2679204"/>
            <a:ext cx="4046339" cy="14288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9" name="Text 17"/>
          <p:cNvSpPr/>
          <p:nvPr/>
        </p:nvSpPr>
        <p:spPr>
          <a:xfrm>
            <a:off x="4631308" y="2774379"/>
            <a:ext cx="194935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Leverage Declines Sharply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31308" y="3041452"/>
            <a:ext cx="4046339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Debt-to-equity falls to 0.04x; interest coverage reaches 28.2x — materially lower credit risk.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53" y="3662958"/>
            <a:ext cx="266477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53" y="3875112"/>
            <a:ext cx="4046339" cy="14288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53" y="3970288"/>
            <a:ext cx="2366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Cash Flow Improves, FY27 Weak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53" y="4237360"/>
            <a:ext cx="4046339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OCF rises to ₹22,516 Cr by FY31E, but FY27 cash dips to ₹2,290 Cr on reinvestment.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31308" y="3662958"/>
            <a:ext cx="266477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31308" y="3875112"/>
            <a:ext cx="4046339" cy="14288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27" name="Text 25"/>
          <p:cNvSpPr/>
          <p:nvPr/>
        </p:nvSpPr>
        <p:spPr>
          <a:xfrm>
            <a:off x="4631308" y="3970288"/>
            <a:ext cx="273940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DCF Attractive, Terminal-Value Heavy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31308" y="4237360"/>
            <a:ext cx="4046339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Equity value of ₹223,600 Cr; ~76% terminal value contribution warrants sensitivity checks.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5425" y="374079"/>
            <a:ext cx="617041" cy="213940"/>
          </a:xfrm>
          <a:prstGeom prst="roundRect">
            <a:avLst>
              <a:gd name="adj" fmla="val 19092"/>
            </a:avLst>
          </a:prstGeom>
          <a:solidFill>
            <a:srgbClr val="D8E7F3"/>
          </a:solidFill>
          <a:ln/>
        </p:spPr>
      </p:sp>
      <p:sp>
        <p:nvSpPr>
          <p:cNvPr id="4" name="Text 1"/>
          <p:cNvSpPr/>
          <p:nvPr/>
        </p:nvSpPr>
        <p:spPr>
          <a:xfrm>
            <a:off x="498351" y="410542"/>
            <a:ext cx="928390" cy="141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SUMMARY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425" y="627459"/>
            <a:ext cx="4864150" cy="71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Bottom Line: A High-Conviction Recovery Play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25425" y="1490663"/>
            <a:ext cx="4864150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L&amp;T's model tells a clear story — FY26 is the low point, and every major metric improves meaningfully thereafter. Margin recovery, deleveraging, and cash generation converge to support an attractive valuation.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25425" y="2130623"/>
            <a:ext cx="4864150" cy="2638723"/>
          </a:xfrm>
          <a:prstGeom prst="roundRect">
            <a:avLst>
              <a:gd name="adj" fmla="val 1935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0188" y="2135386"/>
            <a:ext cx="4854625" cy="657299"/>
          </a:xfrm>
          <a:prstGeom prst="roundRect">
            <a:avLst>
              <a:gd name="adj" fmla="val 7767"/>
            </a:avLst>
          </a:prstGeom>
          <a:solidFill>
            <a:srgbClr val="FAF5EB"/>
          </a:solidFill>
          <a:ln/>
        </p:spPr>
      </p:sp>
      <p:sp>
        <p:nvSpPr>
          <p:cNvPr id="9" name="Text 6"/>
          <p:cNvSpPr/>
          <p:nvPr/>
        </p:nvSpPr>
        <p:spPr>
          <a:xfrm>
            <a:off x="551706" y="2256904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Growth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1706" y="2494880"/>
            <a:ext cx="461158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~9.0% revenue CAGR through FY31E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0188" y="2792685"/>
            <a:ext cx="4854625" cy="657299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2" name="Shape 9"/>
          <p:cNvSpPr/>
          <p:nvPr/>
        </p:nvSpPr>
        <p:spPr>
          <a:xfrm>
            <a:off x="430188" y="2792685"/>
            <a:ext cx="4854625" cy="14288"/>
          </a:xfrm>
          <a:prstGeom prst="roundRect">
            <a:avLst>
              <a:gd name="adj" fmla="val 357331"/>
            </a:avLst>
          </a:prstGeom>
          <a:solidFill>
            <a:srgbClr val="D5CDBE"/>
          </a:solidFill>
          <a:ln/>
        </p:spPr>
      </p:sp>
      <p:sp>
        <p:nvSpPr>
          <p:cNvPr id="13" name="Text 10"/>
          <p:cNvSpPr/>
          <p:nvPr/>
        </p:nvSpPr>
        <p:spPr>
          <a:xfrm>
            <a:off x="551706" y="2914204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Margin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1706" y="3152180"/>
            <a:ext cx="461158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EBITDA margin expands from 8.3% to 14.1%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30188" y="3449985"/>
            <a:ext cx="4854625" cy="657299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6" name="Shape 13"/>
          <p:cNvSpPr/>
          <p:nvPr/>
        </p:nvSpPr>
        <p:spPr>
          <a:xfrm>
            <a:off x="430188" y="3449985"/>
            <a:ext cx="4854625" cy="14288"/>
          </a:xfrm>
          <a:prstGeom prst="roundRect">
            <a:avLst>
              <a:gd name="adj" fmla="val 357331"/>
            </a:avLst>
          </a:prstGeom>
          <a:solidFill>
            <a:srgbClr val="D5CDBE"/>
          </a:solidFill>
          <a:ln/>
        </p:spPr>
      </p:sp>
      <p:sp>
        <p:nvSpPr>
          <p:cNvPr id="17" name="Text 14"/>
          <p:cNvSpPr/>
          <p:nvPr/>
        </p:nvSpPr>
        <p:spPr>
          <a:xfrm>
            <a:off x="551706" y="3571503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Balance Sheet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1706" y="3809479"/>
            <a:ext cx="461158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Debt-to-equity falls to 0.04x by FY31E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0188" y="4107284"/>
            <a:ext cx="4854625" cy="657299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0" name="Shape 17"/>
          <p:cNvSpPr/>
          <p:nvPr/>
        </p:nvSpPr>
        <p:spPr>
          <a:xfrm>
            <a:off x="430188" y="4107284"/>
            <a:ext cx="4854625" cy="14288"/>
          </a:xfrm>
          <a:prstGeom prst="roundRect">
            <a:avLst>
              <a:gd name="adj" fmla="val 357331"/>
            </a:avLst>
          </a:prstGeom>
          <a:solidFill>
            <a:srgbClr val="D5CDBE"/>
          </a:solidFill>
          <a:ln/>
        </p:spPr>
      </p:sp>
      <p:sp>
        <p:nvSpPr>
          <p:cNvPr id="21" name="Text 18"/>
          <p:cNvSpPr/>
          <p:nvPr/>
        </p:nvSpPr>
        <p:spPr>
          <a:xfrm>
            <a:off x="551706" y="4228802"/>
            <a:ext cx="14300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1706" y="4466779"/>
            <a:ext cx="461158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Equity value of ₹223,600 Cr; terminal-value sensitivity noted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2026-06-02T12:10:05Z</dcterms:created>
  <dcterms:modified xsi:type="dcterms:W3CDTF">2026-06-02T12:10:05Z</dcterms:modified>
</cp:coreProperties>
</file>